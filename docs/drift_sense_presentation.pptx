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2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141889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111469"/>
            <a:ext cx="4274032" cy="625891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SEMICONDUCTOR TOOLING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Drift-Sense</a:t>
            </a:r>
          </a:p>
          <a:p>
            <a:pPr>
              <a:spcBef>
                <a:spcPts val="800"/>
              </a:spcBef>
              <a:defRPr sz="2200">
                <a:solidFill>
                  <a:srgbClr val="0EA5E9"/>
                </a:solidFill>
                <a:latin typeface="Segoe UI"/>
              </a:defRPr>
            </a:pPr>
            <a:r>
              <a:rPr b="1" dirty="0"/>
              <a:t>Navigation-Error Recovery &amp; Sub-Pixel Alignment for Wafer Inspection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0927" y="4564077"/>
            <a:ext cx="10149840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rPr dirty="0"/>
              <a:t>PROJECT CORE DELIVERABLES &amp; TEAM ROLES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lang="en-US" dirty="0"/>
              <a:t>Krish Deshpande </a:t>
            </a:r>
            <a:r>
              <a:rPr dirty="0"/>
              <a:t>(Algorithmic Lead): Preprocessing (CLAHE), Pyramidal Multi-Scale Search, NMS Peak Extraction, Periodicity Tie-Breaking, Sub-</a:t>
            </a:r>
            <a:r>
              <a:rPr lang="en-US" dirty="0"/>
              <a:t>     </a:t>
            </a:r>
            <a:r>
              <a:rPr dirty="0"/>
              <a:t>Pixel Parabolic Fitting, ORB+RANSAC AI Fallback, and Technical Documentation.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Shubh </a:t>
            </a:r>
            <a:r>
              <a:rPr lang="en-US" dirty="0">
                <a:solidFill>
                  <a:schemeClr val="bg1"/>
                </a:solidFill>
              </a:rPr>
              <a:t>Garg </a:t>
            </a:r>
            <a:r>
              <a:rPr dirty="0">
                <a:solidFill>
                  <a:schemeClr val="bg1"/>
                </a:solidFill>
              </a:rPr>
              <a:t>(Data &amp; Evaluation): Synthetic Ground-Truth Data Pipeline, Metrics CSV Generation, Visualization Overlays &amp; Repository Setup.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31135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955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Industry Challenge: Stage Drift in Wafer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62656" cy="33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1. Mechanical Drift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F8FAFC"/>
                </a:solidFill>
              </a:rPr>
              <a:t>• Stage Hysteresis: </a:t>
            </a:r>
            <a:r>
              <a:rPr dirty="0">
                <a:solidFill>
                  <a:srgbClr val="94A3B8"/>
                </a:solidFill>
              </a:rPr>
              <a:t>Nanometer-scale mechanical vibration &amp; stage motor drift.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F8FAFC"/>
                </a:solidFill>
              </a:rPr>
              <a:t>• Thermal Shifts: </a:t>
            </a:r>
            <a:r>
              <a:rPr dirty="0">
                <a:solidFill>
                  <a:srgbClr val="94A3B8"/>
                </a:solidFill>
              </a:rPr>
              <a:t>Temperature fluctuations cause micro-shifts across optical fields.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F8FAFC"/>
                </a:solidFill>
              </a:rPr>
              <a:t>• Position Drift: </a:t>
            </a:r>
            <a:r>
              <a:rPr dirty="0">
                <a:solidFill>
                  <a:srgbClr val="94A3B8"/>
                </a:solidFill>
              </a:rPr>
              <a:t>Optical tool fails to land at exact nominal site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5696" y="1645920"/>
            <a:ext cx="3328416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783080"/>
            <a:ext cx="2962656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sz="1600" dirty="0"/>
              <a:t>2. Optical Ambiguity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High Periodicity: </a:t>
            </a:r>
            <a:r>
              <a:rPr sz="1600" dirty="0">
                <a:solidFill>
                  <a:srgbClr val="94A3B8"/>
                </a:solidFill>
              </a:rPr>
              <a:t>Semiconductor memory dies contain thousands of identical cell structures.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Low Contrast: </a:t>
            </a:r>
            <a:r>
              <a:rPr sz="1600" dirty="0">
                <a:solidFill>
                  <a:srgbClr val="94A3B8"/>
                </a:solidFill>
              </a:rPr>
              <a:t>Silicon oxide/nitride layers produce low optical contrast.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Illumination Noise: </a:t>
            </a:r>
            <a:r>
              <a:rPr sz="1600" dirty="0">
                <a:solidFill>
                  <a:srgbClr val="94A3B8"/>
                </a:solidFill>
              </a:rPr>
              <a:t>Sensor gain differences and dark currents degrade standard matchers.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783080"/>
            <a:ext cx="2962656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dirty="0"/>
              <a:t>3. Technical Solution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Drift-Sense Engine: </a:t>
            </a:r>
            <a:r>
              <a:rPr sz="1600" dirty="0">
                <a:solidFill>
                  <a:srgbClr val="94A3B8"/>
                </a:solidFill>
              </a:rPr>
              <a:t>Deterministic, sub-pixel matching algorithm requiring 0ms training time.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Nanometer Precision: </a:t>
            </a:r>
            <a:r>
              <a:rPr sz="1600" dirty="0">
                <a:solidFill>
                  <a:srgbClr val="94A3B8"/>
                </a:solidFill>
              </a:rPr>
              <a:t>Sub-0.03 pixel localization accuracy (~15 nm physical resolution).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Scale Resilient: </a:t>
            </a:r>
            <a:r>
              <a:rPr sz="1600" dirty="0">
                <a:solidFill>
                  <a:srgbClr val="94A3B8"/>
                </a:solidFill>
              </a:rPr>
              <a:t>Pyramidal search handles ±15% optical magnification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System Architecture &amp;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4203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76272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STEP 1: PREPROCESS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Input Capture: </a:t>
            </a:r>
            <a:r>
              <a:rPr sz="1600" dirty="0">
                <a:solidFill>
                  <a:srgbClr val="94A3B8"/>
                </a:solidFill>
              </a:rPr>
              <a:t>Search S (512x512) &amp; Ref R (320x320)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Adaptive CLAHE: </a:t>
            </a:r>
            <a:r>
              <a:rPr sz="1600" dirty="0">
                <a:solidFill>
                  <a:srgbClr val="94A3B8"/>
                </a:solidFill>
              </a:rPr>
              <a:t>Histogram equalization over 8x8 tiles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Gaussian Blur: </a:t>
            </a:r>
            <a:r>
              <a:rPr sz="1600" dirty="0">
                <a:solidFill>
                  <a:srgbClr val="94A3B8"/>
                </a:solidFill>
              </a:rPr>
              <a:t>High-frequency noise reduction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Sobel Edges: </a:t>
            </a:r>
            <a:r>
              <a:rPr sz="1600" dirty="0">
                <a:solidFill>
                  <a:srgbClr val="94A3B8"/>
                </a:solidFill>
              </a:rPr>
              <a:t>Gradient magnitude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56432" y="1645920"/>
            <a:ext cx="254203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783080"/>
            <a:ext cx="2176272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sz="1600" dirty="0"/>
              <a:t>STEP 2: MULTI-SCALE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Pyramidal Search: </a:t>
            </a:r>
            <a:r>
              <a:rPr sz="1600" dirty="0">
                <a:solidFill>
                  <a:srgbClr val="94A3B8"/>
                </a:solidFill>
              </a:rPr>
              <a:t>Scale range: s in [0.85, 1.15]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Bicubic Scaling: </a:t>
            </a:r>
            <a:r>
              <a:rPr sz="1600" dirty="0">
                <a:solidFill>
                  <a:srgbClr val="94A3B8"/>
                </a:solidFill>
              </a:rPr>
              <a:t>High-quality template interpolation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NCC Map: </a:t>
            </a:r>
            <a:r>
              <a:rPr sz="1600" dirty="0">
                <a:solidFill>
                  <a:srgbClr val="94A3B8"/>
                </a:solidFill>
              </a:rPr>
              <a:t>Normalized Cross-Correlation evaluation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Response Tensor: </a:t>
            </a:r>
            <a:r>
              <a:rPr sz="1600" dirty="0">
                <a:solidFill>
                  <a:srgbClr val="94A3B8"/>
                </a:solidFill>
              </a:rPr>
              <a:t>Multi-resolution correlation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1645920"/>
            <a:ext cx="254203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783080"/>
            <a:ext cx="2176272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STEP 3: NMS &amp; TIE-BREAK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NMS Filtering: </a:t>
            </a:r>
            <a:r>
              <a:rPr sz="1600" dirty="0">
                <a:solidFill>
                  <a:srgbClr val="94A3B8"/>
                </a:solidFill>
              </a:rPr>
              <a:t>Local dilation filter extracts top-K peaks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Periodicity Check: </a:t>
            </a:r>
            <a:r>
              <a:rPr sz="1600" dirty="0">
                <a:solidFill>
                  <a:srgbClr val="94A3B8"/>
                </a:solidFill>
              </a:rPr>
              <a:t>Identifies competing grid peaks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Stage Prior: </a:t>
            </a:r>
            <a:r>
              <a:rPr sz="1600" dirty="0">
                <a:solidFill>
                  <a:srgbClr val="94A3B8"/>
                </a:solidFill>
              </a:rPr>
              <a:t>Center distance penalty score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High-Res Rescore: </a:t>
            </a:r>
            <a:r>
              <a:rPr sz="1600" dirty="0">
                <a:solidFill>
                  <a:srgbClr val="94A3B8"/>
                </a:solidFill>
              </a:rPr>
              <a:t>Pixel difference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06256" y="1645920"/>
            <a:ext cx="25420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9136" y="1783080"/>
            <a:ext cx="2176272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dirty="0"/>
              <a:t>STEP 4: SUB-PIXEL &amp; AI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2D Parabola Fit: </a:t>
            </a:r>
            <a:r>
              <a:rPr sz="1600" dirty="0">
                <a:solidFill>
                  <a:srgbClr val="94A3B8"/>
                </a:solidFill>
              </a:rPr>
              <a:t>Sub-pixel parabolic quadratic curve fit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Fractional Offset: </a:t>
            </a:r>
            <a:r>
              <a:rPr sz="1600" dirty="0">
                <a:solidFill>
                  <a:srgbClr val="94A3B8"/>
                </a:solidFill>
              </a:rPr>
              <a:t>Returns dx, </a:t>
            </a:r>
            <a:r>
              <a:rPr sz="1600" dirty="0" err="1">
                <a:solidFill>
                  <a:srgbClr val="94A3B8"/>
                </a:solidFill>
              </a:rPr>
              <a:t>dy</a:t>
            </a:r>
            <a:r>
              <a:rPr sz="1600" dirty="0">
                <a:solidFill>
                  <a:srgbClr val="94A3B8"/>
                </a:solidFill>
              </a:rPr>
              <a:t> sub-pixel shifts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AI Fallback: </a:t>
            </a:r>
            <a:r>
              <a:rPr sz="1600" dirty="0">
                <a:solidFill>
                  <a:srgbClr val="94A3B8"/>
                </a:solidFill>
              </a:rPr>
              <a:t>ORB </a:t>
            </a:r>
            <a:r>
              <a:rPr sz="1600" dirty="0" err="1">
                <a:solidFill>
                  <a:srgbClr val="94A3B8"/>
                </a:solidFill>
              </a:rPr>
              <a:t>Keypoints</a:t>
            </a:r>
            <a:r>
              <a:rPr sz="1600" dirty="0">
                <a:solidFill>
                  <a:srgbClr val="94A3B8"/>
                </a:solidFill>
              </a:rPr>
              <a:t> + RANSAC </a:t>
            </a:r>
            <a:r>
              <a:rPr sz="1600" dirty="0" err="1">
                <a:solidFill>
                  <a:srgbClr val="94A3B8"/>
                </a:solidFill>
              </a:rPr>
              <a:t>Homography</a:t>
            </a:r>
            <a:endParaRPr sz="1600" dirty="0">
              <a:solidFill>
                <a:srgbClr val="94A3B8"/>
              </a:solidFill>
            </a:endParaRP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Final Output: </a:t>
            </a:r>
            <a:r>
              <a:rPr sz="1600" dirty="0">
                <a:solidFill>
                  <a:srgbClr val="94A3B8"/>
                </a:solidFill>
              </a:rPr>
              <a:t>Precise (x, y) &amp; Confidence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9224" y="471109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791149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lang="en-US" dirty="0"/>
              <a:t>Krish Deshpande :</a:t>
            </a:r>
            <a:r>
              <a:rPr dirty="0"/>
              <a:t> Algorithmic Core: Preprocessing &amp; Pyramids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75504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Adaptive Intensity Preprocessing (</a:t>
            </a:r>
            <a:r>
              <a:rPr sz="1600" dirty="0" err="1"/>
              <a:t>src</a:t>
            </a:r>
            <a:r>
              <a:rPr sz="1600" dirty="0"/>
              <a:t>/preprocess.py)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CLAHE Contrast Equalization: </a:t>
            </a:r>
            <a:r>
              <a:rPr sz="1600" dirty="0">
                <a:solidFill>
                  <a:srgbClr val="94A3B8"/>
                </a:solidFill>
              </a:rPr>
              <a:t>Enhances local contrast in low-reflectance silicon oxide/metal layers without blowing out highlights.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Gaussian Denoising (3x3): </a:t>
            </a:r>
            <a:r>
              <a:rPr sz="1600" dirty="0">
                <a:solidFill>
                  <a:srgbClr val="94A3B8"/>
                </a:solidFill>
              </a:rPr>
              <a:t>Attenuates high-frequency optical sensor shot noise.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Sobel Gradient Magnitude: </a:t>
            </a:r>
            <a:r>
              <a:rPr sz="1600" dirty="0">
                <a:solidFill>
                  <a:srgbClr val="94A3B8"/>
                </a:solidFill>
              </a:rPr>
              <a:t>Extracts spatial edge structures to ensure robust matching even under non-linear lighting variation.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Z-Score Calibration: </a:t>
            </a:r>
            <a:r>
              <a:rPr sz="1600" dirty="0">
                <a:solidFill>
                  <a:srgbClr val="94A3B8"/>
                </a:solidFill>
              </a:rPr>
              <a:t>Normalizes intensity variations for zero mean and unit variance.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2784" y="1645920"/>
            <a:ext cx="5175504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4809744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sz="1600" dirty="0"/>
              <a:t>Pyramidal Multi-Scale Search Space (</a:t>
            </a:r>
            <a:r>
              <a:rPr sz="1600" dirty="0" err="1"/>
              <a:t>src</a:t>
            </a:r>
            <a:r>
              <a:rPr sz="1600" dirty="0"/>
              <a:t>/matcher.py)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Scale Invariance: </a:t>
            </a:r>
            <a:r>
              <a:rPr sz="1600" dirty="0">
                <a:solidFill>
                  <a:srgbClr val="94A3B8"/>
                </a:solidFill>
              </a:rPr>
              <a:t>Evaluates template scale hypotheses across s in {</a:t>
            </a:r>
            <a:r>
              <a:rPr sz="1600" dirty="0" err="1">
                <a:solidFill>
                  <a:srgbClr val="94A3B8"/>
                </a:solidFill>
              </a:rPr>
              <a:t>s_base</a:t>
            </a:r>
            <a:r>
              <a:rPr sz="1600" dirty="0">
                <a:solidFill>
                  <a:srgbClr val="94A3B8"/>
                </a:solidFill>
              </a:rPr>
              <a:t> * 0.95, </a:t>
            </a:r>
            <a:r>
              <a:rPr sz="1600" dirty="0" err="1">
                <a:solidFill>
                  <a:srgbClr val="94A3B8"/>
                </a:solidFill>
              </a:rPr>
              <a:t>s_base</a:t>
            </a:r>
            <a:r>
              <a:rPr sz="1600" dirty="0">
                <a:solidFill>
                  <a:srgbClr val="94A3B8"/>
                </a:solidFill>
              </a:rPr>
              <a:t>, </a:t>
            </a:r>
            <a:r>
              <a:rPr sz="1600" dirty="0" err="1">
                <a:solidFill>
                  <a:srgbClr val="94A3B8"/>
                </a:solidFill>
              </a:rPr>
              <a:t>s_base</a:t>
            </a:r>
            <a:r>
              <a:rPr sz="1600" dirty="0">
                <a:solidFill>
                  <a:srgbClr val="94A3B8"/>
                </a:solidFill>
              </a:rPr>
              <a:t> * 1.05}.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Bicubic &amp; Area Resampling: </a:t>
            </a:r>
            <a:r>
              <a:rPr sz="1600" dirty="0">
                <a:solidFill>
                  <a:srgbClr val="94A3B8"/>
                </a:solidFill>
              </a:rPr>
              <a:t>Uses INTER_AREA for downscaling and INTER_CUBIC for upscaling to prevent aliasing.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Normalized Cross-Correlation (NCC): </a:t>
            </a:r>
            <a:r>
              <a:rPr sz="1600" dirty="0">
                <a:solidFill>
                  <a:srgbClr val="94A3B8"/>
                </a:solidFill>
              </a:rPr>
              <a:t>Computes scale-normalized inner product invariant to linear gain shifts.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0ms Training Latency: </a:t>
            </a:r>
            <a:r>
              <a:rPr sz="1600" dirty="0">
                <a:solidFill>
                  <a:srgbClr val="94A3B8"/>
                </a:solidFill>
              </a:rPr>
              <a:t>Fully deterministic signal processing engine with zero GPU training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561252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Periodicity Tie-Breaking &amp; Sub-Pixel Parabolic 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755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Periodicity &amp; Stage Prior Tie-Breaking (</a:t>
            </a:r>
            <a:r>
              <a:rPr sz="1600" dirty="0" err="1"/>
              <a:t>src</a:t>
            </a:r>
            <a:r>
              <a:rPr sz="1600" dirty="0"/>
              <a:t>/peaks.py)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Non-Maximum Suppression (NMS): </a:t>
            </a:r>
            <a:r>
              <a:rPr sz="1600" dirty="0">
                <a:solidFill>
                  <a:srgbClr val="94A3B8"/>
                </a:solidFill>
              </a:rPr>
              <a:t>Extracts local peak candidates using 2D dilation morphology.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Grid Ambiguity Detection: </a:t>
            </a:r>
            <a:r>
              <a:rPr sz="1600" dirty="0">
                <a:solidFill>
                  <a:srgbClr val="94A3B8"/>
                </a:solidFill>
              </a:rPr>
              <a:t>Detects when multiple candidate peaks exhibit correlation within 5% of global maximum.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Physical Stage Prior: </a:t>
            </a:r>
            <a:r>
              <a:rPr sz="1600" dirty="0">
                <a:solidFill>
                  <a:srgbClr val="94A3B8"/>
                </a:solidFill>
              </a:rPr>
              <a:t>Applies physical stage drift prior penalty favoring peaks closer to search ROI center.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Composite Fitness Score: </a:t>
            </a:r>
            <a:r>
              <a:rPr sz="1600" dirty="0">
                <a:solidFill>
                  <a:srgbClr val="94A3B8"/>
                </a:solidFill>
              </a:rPr>
              <a:t>Fitness = 0.8 * </a:t>
            </a:r>
            <a:r>
              <a:rPr sz="1600" dirty="0" err="1">
                <a:solidFill>
                  <a:srgbClr val="94A3B8"/>
                </a:solidFill>
              </a:rPr>
              <a:t>NormScore</a:t>
            </a:r>
            <a:r>
              <a:rPr sz="1600" dirty="0">
                <a:solidFill>
                  <a:srgbClr val="94A3B8"/>
                </a:solidFill>
              </a:rPr>
              <a:t> + 0.2 * (1 - </a:t>
            </a:r>
            <a:r>
              <a:rPr sz="1600" dirty="0" err="1">
                <a:solidFill>
                  <a:srgbClr val="94A3B8"/>
                </a:solidFill>
              </a:rPr>
              <a:t>NormDistPenalty</a:t>
            </a:r>
            <a:r>
              <a:rPr sz="1600" dirty="0">
                <a:solidFill>
                  <a:srgbClr val="94A3B8"/>
                </a:solidFill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2784" y="1645920"/>
            <a:ext cx="51755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4809744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dirty="0"/>
              <a:t>Sub-Pixel Quadratic Surface Fit (</a:t>
            </a:r>
            <a:r>
              <a:rPr sz="1600" dirty="0" err="1"/>
              <a:t>src</a:t>
            </a:r>
            <a:r>
              <a:rPr sz="1600" dirty="0"/>
              <a:t>/peaks.py)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Discretization Limit: </a:t>
            </a:r>
            <a:r>
              <a:rPr sz="1600" dirty="0">
                <a:solidFill>
                  <a:srgbClr val="94A3B8"/>
                </a:solidFill>
              </a:rPr>
              <a:t>Camera sensor pixels </a:t>
            </a:r>
            <a:r>
              <a:rPr sz="1600" dirty="0" err="1">
                <a:solidFill>
                  <a:srgbClr val="94A3B8"/>
                </a:solidFill>
              </a:rPr>
              <a:t>discritize</a:t>
            </a:r>
            <a:r>
              <a:rPr sz="1600" dirty="0">
                <a:solidFill>
                  <a:srgbClr val="94A3B8"/>
                </a:solidFill>
              </a:rPr>
              <a:t> position into 1px steps (~500nm).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2D Parabolic Interpolation: </a:t>
            </a:r>
            <a:r>
              <a:rPr sz="1600" dirty="0">
                <a:solidFill>
                  <a:srgbClr val="94A3B8"/>
                </a:solidFill>
              </a:rPr>
              <a:t>Fits continuous quadratic surface through 3x3 correlation neighborhood around integer peak.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Fractional Shift Equation: </a:t>
            </a:r>
            <a:r>
              <a:rPr sz="1600" dirty="0">
                <a:solidFill>
                  <a:srgbClr val="94A3B8"/>
                </a:solidFill>
              </a:rPr>
              <a:t>dx = (Left - Right) / (2 * (Left - 2*Center + Right)).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Extreme Precision: </a:t>
            </a:r>
            <a:r>
              <a:rPr sz="1600" dirty="0">
                <a:solidFill>
                  <a:srgbClr val="94A3B8"/>
                </a:solidFill>
              </a:rPr>
              <a:t>Achieves nanometer-level spatial localization (&lt; 0.03 </a:t>
            </a:r>
            <a:r>
              <a:rPr sz="1600" dirty="0" err="1">
                <a:solidFill>
                  <a:srgbClr val="94A3B8"/>
                </a:solidFill>
              </a:rPr>
              <a:t>px</a:t>
            </a:r>
            <a:r>
              <a:rPr sz="1600" dirty="0">
                <a:solidFill>
                  <a:srgbClr val="94A3B8"/>
                </a:solidFill>
              </a:rPr>
              <a:t> error).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4537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AI Feature Matching Fallback &amp;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79203"/>
            <a:ext cx="10332719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sz="1600" dirty="0"/>
              <a:t>Zero-Shot AI Feature Matching Engine (ORB + RANSAC)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Dynamic Trigger: </a:t>
            </a:r>
            <a:r>
              <a:rPr sz="1600" dirty="0">
                <a:solidFill>
                  <a:srgbClr val="94A3B8"/>
                </a:solidFill>
              </a:rPr>
              <a:t>Engages automatically when normalized cross-correlation confidence drops below 0.40 under extreme distortion.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ORB </a:t>
            </a:r>
            <a:r>
              <a:rPr sz="1600" b="1" dirty="0" err="1">
                <a:solidFill>
                  <a:srgbClr val="F8FAFC"/>
                </a:solidFill>
              </a:rPr>
              <a:t>Keypoint</a:t>
            </a:r>
            <a:r>
              <a:rPr sz="1600" b="1" dirty="0">
                <a:solidFill>
                  <a:srgbClr val="F8FAFC"/>
                </a:solidFill>
              </a:rPr>
              <a:t> Extraction: </a:t>
            </a:r>
            <a:r>
              <a:rPr sz="1600" dirty="0">
                <a:solidFill>
                  <a:srgbClr val="94A3B8"/>
                </a:solidFill>
              </a:rPr>
              <a:t>Detects 1,000 scale-invariant oriented FAST </a:t>
            </a:r>
            <a:r>
              <a:rPr sz="1600" dirty="0" err="1">
                <a:solidFill>
                  <a:srgbClr val="94A3B8"/>
                </a:solidFill>
              </a:rPr>
              <a:t>keypoints</a:t>
            </a:r>
            <a:r>
              <a:rPr sz="1600" dirty="0">
                <a:solidFill>
                  <a:srgbClr val="94A3B8"/>
                </a:solidFill>
              </a:rPr>
              <a:t> and binary BRIEF descriptors.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FLANN / Brute-Force Matcher: </a:t>
            </a:r>
            <a:r>
              <a:rPr sz="1600" dirty="0">
                <a:solidFill>
                  <a:srgbClr val="94A3B8"/>
                </a:solidFill>
              </a:rPr>
              <a:t>Computes Hamming distance between reference and search </a:t>
            </a:r>
            <a:r>
              <a:rPr sz="1600" dirty="0" err="1">
                <a:solidFill>
                  <a:srgbClr val="94A3B8"/>
                </a:solidFill>
              </a:rPr>
              <a:t>keypoint</a:t>
            </a:r>
            <a:r>
              <a:rPr sz="1600" dirty="0">
                <a:solidFill>
                  <a:srgbClr val="94A3B8"/>
                </a:solidFill>
              </a:rPr>
              <a:t> descriptors.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RANSAC </a:t>
            </a:r>
            <a:r>
              <a:rPr sz="1600" b="1" dirty="0" err="1">
                <a:solidFill>
                  <a:srgbClr val="F8FAFC"/>
                </a:solidFill>
              </a:rPr>
              <a:t>Homography</a:t>
            </a:r>
            <a:r>
              <a:rPr sz="1600" b="1" dirty="0">
                <a:solidFill>
                  <a:srgbClr val="F8FAFC"/>
                </a:solidFill>
              </a:rPr>
              <a:t> Estimation: </a:t>
            </a:r>
            <a:r>
              <a:rPr sz="1600" dirty="0">
                <a:solidFill>
                  <a:srgbClr val="94A3B8"/>
                </a:solidFill>
              </a:rPr>
              <a:t>Filters geometric outliers using 4-point perspective RANSAC (threshold = 5.0 </a:t>
            </a:r>
            <a:r>
              <a:rPr sz="1600" dirty="0" err="1">
                <a:solidFill>
                  <a:srgbClr val="94A3B8"/>
                </a:solidFill>
              </a:rPr>
              <a:t>px</a:t>
            </a:r>
            <a:r>
              <a:rPr sz="1600" dirty="0">
                <a:solidFill>
                  <a:srgbClr val="94A3B8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Perspective Projection: </a:t>
            </a:r>
            <a:r>
              <a:rPr sz="1600" dirty="0">
                <a:solidFill>
                  <a:srgbClr val="94A3B8"/>
                </a:solidFill>
              </a:rPr>
              <a:t>Transforms template center coordinate through </a:t>
            </a:r>
            <a:r>
              <a:rPr sz="1600" dirty="0" err="1">
                <a:solidFill>
                  <a:srgbClr val="94A3B8"/>
                </a:solidFill>
              </a:rPr>
              <a:t>homography</a:t>
            </a:r>
            <a:r>
              <a:rPr sz="1600" dirty="0">
                <a:solidFill>
                  <a:srgbClr val="94A3B8"/>
                </a:solidFill>
              </a:rPr>
              <a:t> matrix H to locate target with high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9678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Empirical Benchmark &amp; Performance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420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76272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dirty="0"/>
              <a:t>MEDIAN ERROR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0.029 </a:t>
            </a:r>
            <a:r>
              <a:rPr sz="1600" b="1" dirty="0" err="1">
                <a:solidFill>
                  <a:srgbClr val="F8FAFC"/>
                </a:solidFill>
              </a:rPr>
              <a:t>px</a:t>
            </a:r>
            <a:r>
              <a:rPr sz="1600" b="1" dirty="0">
                <a:solidFill>
                  <a:srgbClr val="F8FAFC"/>
                </a:solidFill>
              </a:rPr>
              <a:t>: </a:t>
            </a:r>
            <a:r>
              <a:rPr sz="1600" dirty="0">
                <a:solidFill>
                  <a:srgbClr val="94A3B8"/>
                </a:solidFill>
              </a:rPr>
              <a:t>Sub-15nm physical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56432" y="1645920"/>
            <a:ext cx="254203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783080"/>
            <a:ext cx="2176272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HIT RATE (&lt; 1px)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100.0%: </a:t>
            </a:r>
            <a:r>
              <a:rPr sz="1600" dirty="0">
                <a:solidFill>
                  <a:srgbClr val="94A3B8"/>
                </a:solidFill>
              </a:rPr>
              <a:t>On unique wafer pattern sites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1645920"/>
            <a:ext cx="254203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783080"/>
            <a:ext cx="2176272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sz="1600" dirty="0"/>
              <a:t>HIT RATE (&lt; 5px)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80.0%: </a:t>
            </a:r>
            <a:r>
              <a:rPr sz="1600" dirty="0">
                <a:solidFill>
                  <a:srgbClr val="94A3B8"/>
                </a:solidFill>
              </a:rPr>
              <a:t>Overall across all 40 test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06256" y="1645920"/>
            <a:ext cx="254203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9136" y="1783080"/>
            <a:ext cx="2176272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TRAINING LATENCY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0 </a:t>
            </a:r>
            <a:r>
              <a:rPr sz="1600" b="1" dirty="0" err="1">
                <a:solidFill>
                  <a:srgbClr val="F8FAFC"/>
                </a:solidFill>
              </a:rPr>
              <a:t>ms</a:t>
            </a:r>
            <a:r>
              <a:rPr sz="1600" b="1" dirty="0">
                <a:solidFill>
                  <a:srgbClr val="F8FAFC"/>
                </a:solidFill>
              </a:rPr>
              <a:t>: </a:t>
            </a:r>
            <a:r>
              <a:rPr sz="1600" dirty="0">
                <a:solidFill>
                  <a:srgbClr val="94A3B8"/>
                </a:solidFill>
              </a:rPr>
              <a:t>Deterministic zero-shot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10728655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1072865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10362895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Benchmark Execution Results Summary (data/synthetic/ground_truth.csv)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Sample #000 (Easy Unique Pattern): </a:t>
            </a:r>
            <a:r>
              <a:rPr sz="1600" dirty="0">
                <a:solidFill>
                  <a:srgbClr val="94A3B8"/>
                </a:solidFill>
              </a:rPr>
              <a:t>True: (111.0, 221.0) | Pred: (110.9601, 221.0228) | Error: 0.046 </a:t>
            </a:r>
            <a:r>
              <a:rPr sz="1600" dirty="0" err="1">
                <a:solidFill>
                  <a:srgbClr val="94A3B8"/>
                </a:solidFill>
              </a:rPr>
              <a:t>px</a:t>
            </a:r>
            <a:r>
              <a:rPr sz="1600" dirty="0">
                <a:solidFill>
                  <a:srgbClr val="94A3B8"/>
                </a:solidFill>
              </a:rPr>
              <a:t> | Score: 0.8553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Sample #015 (Easy Unique Pattern): </a:t>
            </a:r>
            <a:r>
              <a:rPr sz="1600" dirty="0">
                <a:solidFill>
                  <a:srgbClr val="94A3B8"/>
                </a:solidFill>
              </a:rPr>
              <a:t>True: (207.0, 373.0) | Pred: (207.0207, 373.0123) | Error: 0.024 </a:t>
            </a:r>
            <a:r>
              <a:rPr sz="1600" dirty="0" err="1">
                <a:solidFill>
                  <a:srgbClr val="94A3B8"/>
                </a:solidFill>
              </a:rPr>
              <a:t>px</a:t>
            </a:r>
            <a:r>
              <a:rPr sz="1600" dirty="0">
                <a:solidFill>
                  <a:srgbClr val="94A3B8"/>
                </a:solidFill>
              </a:rPr>
              <a:t> | Score: 0.8508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Sample #036 (Hard Periodic Pattern): </a:t>
            </a:r>
            <a:r>
              <a:rPr sz="1600" dirty="0">
                <a:solidFill>
                  <a:srgbClr val="94A3B8"/>
                </a:solidFill>
              </a:rPr>
              <a:t>True: (432.0, 112.0) | Pred: (431.9930, 111.9910) | Error: 0.011 </a:t>
            </a:r>
            <a:r>
              <a:rPr sz="1600" dirty="0" err="1">
                <a:solidFill>
                  <a:srgbClr val="94A3B8"/>
                </a:solidFill>
              </a:rPr>
              <a:t>px</a:t>
            </a:r>
            <a:r>
              <a:rPr sz="1600" dirty="0">
                <a:solidFill>
                  <a:srgbClr val="94A3B8"/>
                </a:solidFill>
              </a:rPr>
              <a:t> | Score: 0.8548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Overall Dataset Summary: </a:t>
            </a:r>
            <a:r>
              <a:rPr sz="1600" dirty="0">
                <a:solidFill>
                  <a:srgbClr val="94A3B8"/>
                </a:solidFill>
              </a:rPr>
              <a:t>40 Test Cases | Median Error: 0.029 </a:t>
            </a:r>
            <a:r>
              <a:rPr sz="1600" dirty="0" err="1">
                <a:solidFill>
                  <a:srgbClr val="94A3B8"/>
                </a:solidFill>
              </a:rPr>
              <a:t>px</a:t>
            </a:r>
            <a:r>
              <a:rPr sz="1600" dirty="0">
                <a:solidFill>
                  <a:srgbClr val="94A3B8"/>
                </a:solidFill>
              </a:rPr>
              <a:t> | Average Match Confidence: 0.845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4259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 dirty="0"/>
              <a:t>DRIFT-SENSE / SEMICONDUCTOR ALGORITHMIC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85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Conclusion &amp; Future Hardware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62656" cy="234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dirty="0"/>
              <a:t>1. Production Ready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High Accuracy: </a:t>
            </a:r>
            <a:r>
              <a:rPr sz="1600" dirty="0">
                <a:solidFill>
                  <a:srgbClr val="94A3B8"/>
                </a:solidFill>
              </a:rPr>
              <a:t>Median positioning error of 0.029 pixels.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Sub-Pixel Resolution: </a:t>
            </a:r>
            <a:r>
              <a:rPr sz="1600" dirty="0">
                <a:solidFill>
                  <a:srgbClr val="94A3B8"/>
                </a:solidFill>
              </a:rPr>
              <a:t>Resolves sub-15nm displacement.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Zero Training Cost: </a:t>
            </a:r>
            <a:r>
              <a:rPr sz="1600" dirty="0">
                <a:solidFill>
                  <a:srgbClr val="94A3B8"/>
                </a:solidFill>
              </a:rPr>
              <a:t>Instant deployment without model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5696" y="1645920"/>
            <a:ext cx="3328416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783080"/>
            <a:ext cx="2962656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2. Robust Engineering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Multi-Scale Pyramid: </a:t>
            </a:r>
            <a:r>
              <a:rPr sz="1600" dirty="0">
                <a:solidFill>
                  <a:srgbClr val="94A3B8"/>
                </a:solidFill>
              </a:rPr>
              <a:t>Handles magnification drift.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Periodicity Prior: </a:t>
            </a:r>
            <a:r>
              <a:rPr sz="1600" dirty="0">
                <a:solidFill>
                  <a:srgbClr val="94A3B8"/>
                </a:solidFill>
              </a:rPr>
              <a:t>Resolves repeating memory arrays.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AI Fallback: </a:t>
            </a:r>
            <a:r>
              <a:rPr sz="1600" dirty="0">
                <a:solidFill>
                  <a:srgbClr val="94A3B8"/>
                </a:solidFill>
              </a:rPr>
              <a:t>Recovers from heavy optical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783080"/>
            <a:ext cx="2962656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sz="1600" dirty="0"/>
              <a:t>3. Future Acceleration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FPGA / ASIC IP: </a:t>
            </a:r>
            <a:r>
              <a:rPr sz="1600" dirty="0">
                <a:solidFill>
                  <a:srgbClr val="94A3B8"/>
                </a:solidFill>
              </a:rPr>
              <a:t>Hardware-accelerated 2D NCC correlation pipeline.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Sub-Graph Super-Res: </a:t>
            </a:r>
            <a:r>
              <a:rPr sz="1600" dirty="0">
                <a:solidFill>
                  <a:srgbClr val="94A3B8"/>
                </a:solidFill>
              </a:rPr>
              <a:t>Deep learning sub-pixel feature enhancement.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8FAFC"/>
                </a:solidFill>
              </a:rPr>
              <a:t>• Multi-Die Alignment: </a:t>
            </a:r>
            <a:r>
              <a:rPr sz="1600" dirty="0">
                <a:solidFill>
                  <a:srgbClr val="94A3B8"/>
                </a:solidFill>
              </a:rPr>
              <a:t>Simultaneous multi-ROI wafer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1200" b="1" dirty="0">
            <a:solidFill>
              <a:srgbClr val="0EA5E9"/>
            </a:solidFill>
            <a:latin typeface="Segoe UI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1169</Words>
  <Application>Microsoft Office PowerPoint</Application>
  <PresentationFormat>Widescreen</PresentationFormat>
  <Paragraphs>103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 Garg</cp:lastModifiedBy>
  <cp:revision>2</cp:revision>
  <dcterms:created xsi:type="dcterms:W3CDTF">2013-01-27T09:14:16Z</dcterms:created>
  <dcterms:modified xsi:type="dcterms:W3CDTF">2026-08-13T11:22:01Z</dcterms:modified>
  <cp:category/>
</cp:coreProperties>
</file>